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adenz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4455" y="256032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548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Conservatorio di Monopoli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9525">
            <a:solidFill>
              <a:srgbClr val="D8DB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maggio 2026  ·  Danilo Russo, docente del Conservatorio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37215" y="6492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C3873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7315200" cy="5486400"/>
          </a:xfrm>
          <a:prstGeom prst="ellipse">
            <a:avLst/>
          </a:prstGeom>
          <a:solidFill>
            <a:srgbClr val="F39405">
              <a:alpha val="10000"/>
            </a:srgbClr>
          </a:solidFill>
          <a:ln/>
        </p:spPr>
      </p:sp>
      <p:pic>
        <p:nvPicPr>
          <p:cNvPr id="3" name="Image 0" descr="/tmp/cadenz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965960" y="10789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gestione aule per il Conservatorio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piattaforma su misura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il Conservatorio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Nino Rota di Monopoli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italiano, open-source, offerto gratuitamente dall'autore. L'unico costo a carico dell'Istituzione è il server cloud.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937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canone software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08960" y="4937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€ 38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0896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mese, totale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4937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2.000+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57784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utenti supportati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5897880"/>
            <a:ext cx="100584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989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PRESENTATA 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0080" y="62362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Direttore del Conservatorio  ·  Direttore Amministrativo  ·  </a:t>
            </a:r>
            <a:pPr indent="0" marL="0">
              <a:buNone/>
            </a:pPr>
            <a:r>
              <a:rPr lang="en-US" sz="1400" b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Carlo Gallo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6565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maggio 2026  ·  Danilo Russo, docente del Conservatorio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QUINDICI MINUTI, CINQUE DOMANDE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cosa parliamo oggi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55243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944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387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880360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problema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246120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Perché la gestione aule oggi nei Conservatori è inefficiente — Excel, calendari personali, messaggi WhatsApp, conflitti continui.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0148" y="2697480"/>
            <a:ext cx="55243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944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38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11316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78828" y="2880360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è Cadenza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78828" y="3246120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web-app pronta all'uso, sviluppata da un docente del Conservatorio per i Conservatori italiani.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55243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387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14223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Confronto con il mercato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507992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Funzionalità e prezzi a confronto con le due alternative reali: ASIMUT (leader internazionale) ed EasyRoom (Gruppo Zucchetti, ~9 conservatori AFAM).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0148" y="3959352"/>
            <a:ext cx="55243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1316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3873"/>
          </a:solidFill>
          <a:ln/>
        </p:spPr>
      </p:sp>
      <p:sp>
        <p:nvSpPr>
          <p:cNvPr id="22" name="Text 20"/>
          <p:cNvSpPr/>
          <p:nvPr/>
        </p:nvSpPr>
        <p:spPr>
          <a:xfrm>
            <a:off x="6411316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78828" y="414223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L'offerta per Monopoli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78828" y="4507992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software gratis, ~ € 38/mese per server e manutenzione assistita, attivazione in 1 settimana.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221224"/>
            <a:ext cx="1127729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54681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387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468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5404104"/>
            <a:ext cx="10225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serve per partire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5769864"/>
            <a:ext cx="102257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Quattro decisioni concrete da prendere oggi — un sotto-dominio, un VPS in affidamento diretto, un account admin, un'ora di onboarding.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CAPITOLO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gestione aule oggi, nella media dei Conservatori italiani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64937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743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136392"/>
            <a:ext cx="3247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Strumenti scollegati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410712"/>
            <a:ext cx="32470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della segreteria, Google Calendar dei docenti, gruppi WhatsApp degli studenti. Ogni informazione è in 3 posti, nessuno è autoritativo.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71162" y="2606040"/>
            <a:ext cx="364937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72330" y="2743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72330" y="3136392"/>
            <a:ext cx="3247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Doppie prenotazioni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72330" y="3410712"/>
            <a:ext cx="32470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studenti che si trovano nella stessa aula alla stessa ora. Lezioni interrotte. Scuse, riprogrammazioni, mail di chiarimento.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85125" y="2606040"/>
            <a:ext cx="364937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6293" y="2743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86293" y="3136392"/>
            <a:ext cx="3247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Pomeriggio in segreteria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86293" y="3410712"/>
            <a:ext cx="32470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 di telefono per coordinare cambi aula, autorizzare richieste, distribuire le sale concerto. Tempo sottratto alla didattica.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364937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4297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🎻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" y="4690872"/>
            <a:ext cx="3247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Ore docenti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965192"/>
            <a:ext cx="32470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324 ore CCNL gestite a mano: foglio Excel, controllo manuale, contratti orari trattati ad-hoc. Errori amministrativi continui.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71162" y="4160520"/>
            <a:ext cx="364937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72330" y="4297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72330" y="4690872"/>
            <a:ext cx="3247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Inventario strumenti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72330" y="4965192"/>
            <a:ext cx="32470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Strumenti in prestito: dove sono? a chi? da quando? Quaderno cartaceo o file Drive che nessuno aggiorna in tempo reale.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85125" y="4160520"/>
            <a:ext cx="364937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86293" y="4297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86293" y="4690872"/>
            <a:ext cx="3247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Conformità GDPR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86293" y="4965192"/>
            <a:ext cx="32470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Dati di studenti e docenti su Google e WhatsApp. Audit log inesistente. Provv. Garante 06/2021 — esposizione legale latente.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5669280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FFF8E7"/>
          </a:solidFill>
          <a:ln w="6350">
            <a:solidFill>
              <a:srgbClr val="D8DB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6692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760720"/>
            <a:ext cx="109115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NASCOSTO STIMATO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596188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un Conservatorio di taglia media (1.500-2.500 utenti):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200 ore/anno</a:t>
            </a:r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 lavoro di segreteria  · 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decine di conflitti</a:t>
            </a:r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 sanati  · 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esposizione legale GDPR</a:t>
            </a:r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CAPITOLO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PROPOSTA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 in tre punti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web-app installata su un server del Conservatorio, accessibile da qualsiasi browser e da smartphone (PWA), in italiano, con il supporto dell'autore.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3637178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1752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175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SU MISURA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31799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Pensata per il Conservatorio italiano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31799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Sviluppata da un docente del Conservatorio: parla di aule, sale prove, sale concerto, monte ore, sospensioni didattiche, contratti orari, sessioni d'esame con il vocabolario corretto.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5257800"/>
            <a:ext cx="31799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Monte Ore CCNL 324h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Deroga contratti orari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 concerto con approvazione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Inventario strumenti musicali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7258" y="2788920"/>
            <a:ext cx="3637178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05858" y="301752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4505858" y="30175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PRONTA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05858" y="3383280"/>
            <a:ext cx="31799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Production-ready oggi, non in roadmap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05858" y="4206240"/>
            <a:ext cx="31799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software è già completo, testato e in funzione: 550 test automatici verdi al 99% di pass-rate, 0 vulnerabilità note, deploy in singola macchina.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05858" y="5257800"/>
            <a:ext cx="31799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modelli, 230+ endpoint, 29 pagine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lingue (IT/EN/ES)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2FA, audit log, backup giornaliero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Disaster recovery RTO ~ 1 secondo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7317" y="2788920"/>
            <a:ext cx="3637178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5917" y="301752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8325917" y="30175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GRATUITA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25917" y="3383280"/>
            <a:ext cx="31799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Donata al Conservatorio dall'autore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25917" y="4206240"/>
            <a:ext cx="31799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software è gratis, niente licenza, niente canoni, niente fee per utente, niente gara d'appalto. Si paga solo l'infrastruttura cloud.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5917" y="5257800"/>
            <a:ext cx="31799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Codice di proprietà del Conservatorio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Manutenzione gratuita garantita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Affidamento diretto sotto soglia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Nessun lock-in tecnico o contrattuale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FUNZIONALITÀ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FA CADENZA · 1 DI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gestione delle prenotazioni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64937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743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405"/>
                </a:solidFill>
              </a:rPr>
              <a:t>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770632"/>
            <a:ext cx="26892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Calendario settimanale per aula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32470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Studenti, docenti, ospiti vedono in un colpo d'occhio quali aule sono libere, quando, e con quali strumenti.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4096512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4096512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765097" y="4096512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765097" y="4096512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Stampa A4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71826" y="4096512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826" y="4096512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271162" y="2606040"/>
            <a:ext cx="364937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72330" y="2743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405"/>
                </a:solidFill>
              </a:rPr>
              <a:t>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48402" y="2770632"/>
            <a:ext cx="26892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doppie prenotazioni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72330" y="3246120"/>
            <a:ext cx="32470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L'anti-conflitto è imposto a livello del database (Postgres EXCLUDE constraint). Tecnicamente impossibile.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72330" y="4096512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4472330" y="4096512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DB-level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579059" y="4096512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9059" y="4096512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Cross-aula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085125" y="2606040"/>
            <a:ext cx="364937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86293" y="2743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405"/>
                </a:solidFill>
              </a:rPr>
              <a:t>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862365" y="2770632"/>
            <a:ext cx="26892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Regole flessibili per ruolo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6293" y="3246120"/>
            <a:ext cx="32470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Configurabili per studente, docente, admin: durata, ore settimanali, fasce orarie, cooldown tra prenotazioni.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86293" y="4096512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8286293" y="4096512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stanza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393022" y="4096512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9393022" y="4096512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Edificio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4553712"/>
            <a:ext cx="364937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469087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405"/>
                </a:solidFill>
              </a:rPr>
              <a:t>✅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34440" y="4718304"/>
            <a:ext cx="26892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approvazioni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" y="5193792"/>
            <a:ext cx="32470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sale concerto richiedono approvazione admin. Coda dedicata. Email automatiche. Log immutabile.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6044184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044184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765097" y="6044184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38" name="Text 36"/>
          <p:cNvSpPr/>
          <p:nvPr/>
        </p:nvSpPr>
        <p:spPr>
          <a:xfrm>
            <a:off x="1765097" y="6044184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71162" y="4553712"/>
            <a:ext cx="364937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472330" y="469087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405"/>
                </a:solidFill>
              </a:rPr>
              <a:t>📺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048402" y="4718304"/>
            <a:ext cx="26892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kiosk pubblico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72330" y="5193792"/>
            <a:ext cx="32470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Schermo nell'atrio: agenda della giornata, prossimi concerti, avvisi. Rotazione automatica, niente staff dedicato.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72330" y="6044184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44" name="Text 42"/>
          <p:cNvSpPr/>
          <p:nvPr/>
        </p:nvSpPr>
        <p:spPr>
          <a:xfrm>
            <a:off x="4472330" y="6044184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aule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579059" y="6044184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46" name="Text 44"/>
          <p:cNvSpPr/>
          <p:nvPr/>
        </p:nvSpPr>
        <p:spPr>
          <a:xfrm>
            <a:off x="5579059" y="6044184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Concerti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085125" y="4553712"/>
            <a:ext cx="364937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86293" y="469087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405"/>
                </a:solidFill>
              </a:rPr>
              <a:t>📲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862365" y="4718304"/>
            <a:ext cx="26892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Telegram (opzionale)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86293" y="5193792"/>
            <a:ext cx="32470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Studenti e docenti prenotano da Telegram con un comando. Promemoria automatico 30 min prima della lezione.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86293" y="6044184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52" name="Text 50"/>
          <p:cNvSpPr/>
          <p:nvPr/>
        </p:nvSpPr>
        <p:spPr>
          <a:xfrm>
            <a:off x="8286293" y="6044184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393022" y="6044184"/>
            <a:ext cx="1033577" cy="219456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</p:spPr>
      </p:sp>
      <p:sp>
        <p:nvSpPr>
          <p:cNvPr id="54" name="Text 52"/>
          <p:cNvSpPr/>
          <p:nvPr/>
        </p:nvSpPr>
        <p:spPr>
          <a:xfrm>
            <a:off x="9393022" y="6044184"/>
            <a:ext cx="103357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IMAP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FUNZIONALITÀ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FA CADENZA · 2 DI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verticalità AFAM e la conformità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1277295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606040"/>
            <a:ext cx="54864" cy="1508760"/>
          </a:xfrm>
          <a:prstGeom prst="rect">
            <a:avLst/>
          </a:prstGeom>
          <a:solidFill>
            <a:srgbClr val="F3940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🎼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7889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Ore docente — workflow completo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172968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verticalità che nessun competitor offre: il piano annuale di insegnamento (CCNL 324h, 2-4 giorni a settimana, finestra ottobre-giugno) gestito digitalmente. Il docente propone, l'admin approva, il sistema genera le prenotazioni.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3611880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Deroga contratti orari</a:t>
            </a:r>
            <a:pPr indent="0" marL="0">
              <a:buNone/>
            </a:pPr>
            <a:r>
              <a:rPr lang="en-US" sz="95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60h, 120h, 180h…   </a:t>
            </a:r>
            <a:pPr indent="0" marL="0">
              <a:buNone/>
            </a:pPr>
            <a:r>
              <a:rPr lang="en-US" sz="95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Variazioni post-approvazione   </a:t>
            </a:r>
            <a:pPr indent="0" marL="0">
              <a:buNone/>
            </a:pPr>
            <a:r>
              <a:rPr lang="en-US" sz="95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Sospensioni didattiche escluse automaticamente   </a:t>
            </a:r>
            <a:pPr indent="0" marL="0">
              <a:buNone/>
            </a:pPr>
            <a:r>
              <a:rPr lang="en-US" sz="95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Calendario didattico pubblico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271645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4462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A34A"/>
                </a:solidFill>
              </a:rPr>
              <a:t>🎻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" y="4937760"/>
            <a:ext cx="2314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Inventario strumenti musicali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504688"/>
            <a:ext cx="23141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Catalogo strumenti di proprietà: contrabbassi, fagotti, archi rari. Workflow di prestito con scadenze, riconsegne, quote per famiglia, PDF firmato.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814" y="4297680"/>
            <a:ext cx="271645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11982" y="4462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A34A"/>
                </a:solidFill>
              </a:rPr>
              <a:t>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11982" y="4937760"/>
            <a:ext cx="2314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· Garante PA italiana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11982" y="5504688"/>
            <a:ext cx="23141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Cookie banner, consensi tracciati, export dati su richiesta, cancellazione (art. 17), retention 24 mesi automatica, audit log forensic firmato HMAC.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4428" y="4297680"/>
            <a:ext cx="271645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65596" y="4462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A34A"/>
                </a:solidFill>
              </a:rPr>
              <a:t>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65596" y="4937760"/>
            <a:ext cx="2314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2FA admin · password AGID 2024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65596" y="5504688"/>
            <a:ext cx="23141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Doppia autenticazione via email obbligatoria. Password policy AGID (min 10 char, maiuscola, cifra). Anti-lockout: impossibile rimanere senza admin.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18041" y="4297680"/>
            <a:ext cx="271645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19209" y="4462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A34A"/>
                </a:solidFill>
              </a:rPr>
              <a:t>💾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19209" y="4937760"/>
            <a:ext cx="2314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· disaster recovery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19209" y="5504688"/>
            <a:ext cx="231411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giornaliero off-site (Hetzner Storage Box). Restore testato: RTO &lt; 1 secondo misurato. 34 vincoli FK validati a ogni drill.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ANTEPRIMA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SCHERMATE REALI DEL SOFTWARE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Regole di prenotazione, Monte Ore docente</a:t>
            </a:r>
            <a:endParaRPr lang="en-US" sz="2600" dirty="0"/>
          </a:p>
        </p:txBody>
      </p:sp>
      <p:pic>
        <p:nvPicPr>
          <p:cNvPr id="5" name="Image 0" descr="/Users/danilorusso/Desktop/prenota-aule/conservatory-app/docs/screenshots/rules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697480"/>
            <a:ext cx="5455768" cy="3017520"/>
          </a:xfrm>
          <a:prstGeom prst="rect">
            <a:avLst/>
          </a:prstGeom>
        </p:spPr>
      </p:pic>
      <p:pic>
        <p:nvPicPr>
          <p:cNvPr id="6" name="Image 1" descr="/Users/danilorusso/Desktop/prenota-aule/conservatory-app/docs/screenshots/monteore-overvie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8728" y="2697480"/>
            <a:ext cx="5455768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5806440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Regole prenotazione  ·  quattro tab: per ruolo, quote, quote prestiti, eccezioni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278728" y="5806440"/>
            <a:ext cx="5455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Monte Ore docente  ·  vista admin con proposte e amendments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ANTEPRIMA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SCHERMATE REALI DEL SOFTWARE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per ruolo, deroga docenti, vista docente</a:t>
            </a:r>
            <a:endParaRPr lang="en-US" sz="2600" dirty="0"/>
          </a:p>
        </p:txBody>
      </p:sp>
      <p:pic>
        <p:nvPicPr>
          <p:cNvPr id="5" name="Image 0" descr="/Users/danilorusso/Desktop/prenota-aule/conservatory-app/docs/screenshots/rules-per-ruo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606040"/>
            <a:ext cx="364937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285232"/>
            <a:ext cx="36493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Limiti orari per studente, docente, admin</a:t>
            </a:r>
            <a:endParaRPr lang="en-US" sz="900" dirty="0"/>
          </a:p>
        </p:txBody>
      </p:sp>
      <p:pic>
        <p:nvPicPr>
          <p:cNvPr id="7" name="Image 1" descr="/Users/danilorusso/Desktop/prenota-aule/conservatory-app/docs/screenshots/users-form-monteore-overri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1162" y="2606040"/>
            <a:ext cx="364937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71162" y="5285232"/>
            <a:ext cx="36493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Deroga Monte Ore per contratti orari</a:t>
            </a:r>
            <a:endParaRPr lang="en-US" sz="900" dirty="0"/>
          </a:p>
        </p:txBody>
      </p:sp>
      <p:pic>
        <p:nvPicPr>
          <p:cNvPr id="9" name="Image 2" descr="/Users/danilorusso/Desktop/prenota-aule/conservatory-app/docs/screenshots/monteore-docente-bann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5125" y="2606040"/>
            <a:ext cx="3649370" cy="2606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85125" y="5285232"/>
            <a:ext cx="36493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docente con soglia personalizzata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57200" y="5897880"/>
            <a:ext cx="11277295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7200" y="5897880"/>
            <a:ext cx="54864" cy="411480"/>
          </a:xfrm>
          <a:prstGeom prst="rect">
            <a:avLst/>
          </a:prstGeom>
          <a:solidFill>
            <a:srgbClr val="1C3873"/>
          </a:solidFill>
          <a:ln/>
        </p:spPr>
      </p:sp>
      <p:sp>
        <p:nvSpPr>
          <p:cNvPr id="13" name="Text 8"/>
          <p:cNvSpPr/>
          <p:nvPr/>
        </p:nvSpPr>
        <p:spPr>
          <a:xfrm>
            <a:off x="640080" y="58978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identica al software in vendita: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stessa palette grafica, la stessa tipografia, gli stessi componenti d'interfaccia che il personale del Conservatorio userà ogni giorno.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CAPITOLO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CONFRONTO · FUNZIONALITÀ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 vs ASIMUT vs EasyRoom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ASIMUT: leader internazionale di nicchia (1 cliente in Italia). EasyRoom: modulo della suite EasyAcademy del Gruppo Zucchetti (~9 conservatori AFAM). Cadenza: italiana, gratis, open-source.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1127729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463040"/>
                <a:gridCol w="1737360"/>
                <a:gridCol w="2011680"/>
                <a:gridCol w="1581912"/>
              </a:tblGrid>
              <a:tr h="2331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Cosa fa per il Conservatorio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ASIMUT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EasyRoom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Vincitore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873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Prenotare un'aula da computer e da telefono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parità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Approvazione amministrativa per le sale concerto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parità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Niente doppie prenotazioni della stessa aula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parziale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parziale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garantito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Gestione del Monte Ore docenti (le 324 ore CCNL)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flusso completo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Inventario degli strumenti musicali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con prestiti tracciati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Schermo informativo nell'atrio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base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base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con concerti + avvisi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Notifiche e prenotazioni via Telegram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Importazione automatica anagrafica da Isidata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con anteprima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Conformità GDPR italiana (Garante Privacy)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parziale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parziale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completa e nativa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Tracciatura completa di chi fa cosa (registro)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firmato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Apertura porte aule con badge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parziale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con EasyBadge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(in roadmap)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EasyRoom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 per cellulare installabile (PWA)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parità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Software gratuito · codice di proprietà del Conservatorio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Prezzo pubblico · niente vincoli pluriennali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a contratto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❌ a contratto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C1F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✅ trasparente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40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Cadenza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263640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presente  ·  ◐ parziale  ·  ❌ assente  —  Le righe in giallo sono punti di forza Cadenza. ASIMUT non vince in nessun ambito specifico per il Conservatorio italiano; EasyRoom vince solo sull'apertura porte con badge.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CAPITOLO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CONFRONTO · PREZZI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costa davvero, all'anno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un Conservatorio con ~ 2.000 utenti totali (studenti + docenti + staff), IVA esclusa, listino pubblico maggio 2026.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ASIMUT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 internazionale (Danimarca)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8495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€ 22.500 / anno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277295" cy="201168"/>
          </a:xfrm>
          <a:prstGeom prst="roundRect">
            <a:avLst>
              <a:gd name="adj" fmla="val 18182"/>
            </a:avLst>
          </a:prstGeom>
          <a:solidFill>
            <a:srgbClr val="D8DBE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54680"/>
            <a:ext cx="7251301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54680"/>
            <a:ext cx="70684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€ 22.500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EasyAcademy suite completa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EasyCourse + EasyRoom + EasyApp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448495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€ 35.000 / anno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67912"/>
            <a:ext cx="11277295" cy="201168"/>
          </a:xfrm>
          <a:prstGeom prst="roundRect">
            <a:avLst>
              <a:gd name="adj" fmla="val 18182"/>
            </a:avLst>
          </a:prstGeom>
          <a:solidFill>
            <a:srgbClr val="D8DBE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67912"/>
            <a:ext cx="11277295" cy="201168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67912"/>
            <a:ext cx="110944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€ 35.000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1239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EasyRoom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525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modulo singolo, Gruppo Zucchetti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48495" y="4123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€ 8.000 / anno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81144"/>
            <a:ext cx="11277295" cy="201168"/>
          </a:xfrm>
          <a:prstGeom prst="roundRect">
            <a:avLst>
              <a:gd name="adj" fmla="val 18182"/>
            </a:avLst>
          </a:prstGeom>
          <a:solidFill>
            <a:srgbClr val="D8DBE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581144"/>
            <a:ext cx="2582501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581144"/>
            <a:ext cx="239962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€ 8.000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37176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6577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sviluppata da un docente del Conservatorio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48495" y="4837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€ 462 / anno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294376"/>
            <a:ext cx="11277295" cy="201168"/>
          </a:xfrm>
          <a:prstGeom prst="roundRect">
            <a:avLst>
              <a:gd name="adj" fmla="val 18182"/>
            </a:avLst>
          </a:prstGeom>
          <a:solidFill>
            <a:srgbClr val="D8DBE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5294376"/>
            <a:ext cx="320040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577840"/>
            <a:ext cx="2716454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5641848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 vs ASIMUT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5824728"/>
            <a:ext cx="24421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€ 22.038/anno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6135624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 di risparmio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10814" y="5577840"/>
            <a:ext cx="2716454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47974" y="5641848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 vs EasyRoom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47974" y="5824728"/>
            <a:ext cx="24421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€ 7.538/anno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447974" y="6135624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94% di risparmio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64428" y="5577840"/>
            <a:ext cx="2716454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01588" y="5641848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Risparmio 5 anni vs EasyRoom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1588" y="5824728"/>
            <a:ext cx="24421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€ 37.690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01588" y="6135624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018041" y="5577840"/>
            <a:ext cx="2716454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55201" y="5641848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Risparmio 10 anni vs ASIMUT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155201" y="5824728"/>
            <a:ext cx="244213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€ 220.380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55201" y="6135624"/>
            <a:ext cx="244213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cumulato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CAPITOLO 4 · OFFERTA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L'OFFERTA PER MONOPOLI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Voce per voce, € 462 all'anno per ~ 2.000 utenti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Tutto rientra in affidamento diretto sotto soglia (D.Lgs. 36/2023, art. 50 — soglia € 140.000). Niente gara d'appalto, niente CIG dedicato, niente dichiarazione di unicità.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2695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825496"/>
            <a:ext cx="2366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VOCE 1 · INFRASTRUTTURA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3063240"/>
            <a:ext cx="236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VPS Hetzner CPX31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355848"/>
            <a:ext cx="236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vCPU AMD · 8 GB RAM · 160 GB SSD · datacenter EU (Falkenstein)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3730752"/>
            <a:ext cx="23666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€ 191/anno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3941064"/>
            <a:ext cx="2366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€ 15,90/mese × 12  ·  fino a 5.000 utenti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17672" y="2697480"/>
            <a:ext cx="2695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82264" y="2825496"/>
            <a:ext cx="2366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VOCE 2 · RETE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82264" y="3063240"/>
            <a:ext cx="236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82264" y="3355848"/>
            <a:ext cx="236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es. cadenza.consmonopoli.it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82264" y="3730752"/>
            <a:ext cx="23666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€ 15/anno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82264" y="3941064"/>
            <a:ext cx="2366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Let's Encrypt gratuito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78144" y="2697480"/>
            <a:ext cx="2695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42736" y="2825496"/>
            <a:ext cx="2366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VOCE 3 · PROTEZIONE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42736" y="3063240"/>
            <a:ext cx="236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off-site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42736" y="3355848"/>
            <a:ext cx="236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Hetzner Storage Box 1 TB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42736" y="3730752"/>
            <a:ext cx="23666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€ 36/anno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42736" y="3941064"/>
            <a:ext cx="2366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snapshot giornalieri, retention 7 gg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38615" y="2697480"/>
            <a:ext cx="2695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03207" y="2825496"/>
            <a:ext cx="2366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VOCE 4 · MANUTENZIONE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203207" y="3063240"/>
            <a:ext cx="2366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Pro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03207" y="3355848"/>
            <a:ext cx="236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Strumento AI usato dall'autore per evolvere il software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203207" y="3730752"/>
            <a:ext cx="23666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€ 220/anno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03207" y="3941064"/>
            <a:ext cx="23666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€ 18/mese (~ $20 USD)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1C3873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E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TOTALE ANNUO PER IL CONSERVATORIO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4754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€ 462</a:t>
            </a:r>
            <a:endParaRPr lang="en-US" sz="6400" dirty="0"/>
          </a:p>
        </p:txBody>
      </p:sp>
      <p:sp>
        <p:nvSpPr>
          <p:cNvPr id="33" name="Text 31"/>
          <p:cNvSpPr/>
          <p:nvPr/>
        </p:nvSpPr>
        <p:spPr>
          <a:xfrm>
            <a:off x="685800" y="5715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 € 38 / mese  ·  meno di un abbonamento telefonico fisso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583680" y="4297680"/>
            <a:ext cx="5150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gratuito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4526280"/>
            <a:ext cx="5150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Niente licenza, niente fee per utente, niente canone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583680" y="4764024"/>
            <a:ext cx="5150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Manutenzione gratuita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4992624"/>
            <a:ext cx="5150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L'autore si occupa di bug-fix, sicurezza, evoluzioni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583680" y="5230368"/>
            <a:ext cx="5150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gratuito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83680" y="5458968"/>
            <a:ext cx="5150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Deploy, import anagrafica, formazione admin: tutto incluso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5742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583680" y="5696712"/>
            <a:ext cx="5150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Codice di proprietà del Conservatorio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0" y="5925312"/>
            <a:ext cx="5150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Git nelle mani dell'amministrazione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263640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Provider alternativi sovrani italiani: Aruba Cloud (Arezzo, Bergamo, AGID Tier IV) ~ € 315/anno  ·  Register.it (Milano, Bergamo, MePA) ~ € 411/anno — vedi Proposta.md §11.3.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L'IMPATTO ECONOMICO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il Conservatorio può fare con il risparmio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10 anni, scegliere Cadenza invece di una soluzione commerciale equivalente libera € 80.000-220.000 di bilancio. In termini concreti: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547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9535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🎓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737360" y="3017520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3-4 stipendi annuali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3410712"/>
            <a:ext cx="408416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 di II fascia (lordo amministrazione), oppure 1-2 docenti aggiuntivi a contratto orario per 2-3 anni accademici.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87288" y="2788920"/>
            <a:ext cx="5547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5888" y="2953512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🎹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467448" y="3017520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6-8 pianoforti gran coda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67448" y="3410712"/>
            <a:ext cx="408416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in alternativa 2 organi a canne di pregio per le sale concerto, o un parco strumenti rinnovato per due classi di studio.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79392"/>
            <a:ext cx="5547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443984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737360" y="450799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40-50 borse di studio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901184"/>
            <a:ext cx="408416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€ 5.000 ciascuna, per studenti meritevoli del triennio o del biennio specialistico, distribuite in 5-10 anni accademici.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7288" y="4279392"/>
            <a:ext cx="5547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5888" y="4443984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🏛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7467448" y="4507992"/>
            <a:ext cx="4084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ristrutturazioni di aula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67448" y="4901184"/>
            <a:ext cx="408416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Insonorizzazione completa + impianto audio professionale + climatizzazione, per le aule più richieste e con maggior usura.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669280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FFF8E7"/>
          </a:solidFill>
          <a:ln w="6350">
            <a:solidFill>
              <a:srgbClr val="D8DB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669280"/>
            <a:ext cx="54864" cy="685800"/>
          </a:xfrm>
          <a:prstGeom prst="rect">
            <a:avLst/>
          </a:prstGeom>
          <a:solidFill>
            <a:srgbClr val="F3940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760720"/>
            <a:ext cx="109115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SCELTA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5961888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è "Cadenza vs ASIMUT" come strumento — è </a:t>
            </a:r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"Cadenza vs un docente in più"</a:t>
            </a:r>
            <a:pPr indent="0" marL="0">
              <a:buNone/>
            </a:pPr>
            <a:r>
              <a:rPr lang="en-US" sz="1100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oppure </a:t>
            </a:r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"Cadenza vs un pianoforte"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Il risparmio ha utilizzi alternativi tangibili sul bilancio annuale.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CAPITOLO 5 · OPERATIVITÀ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Cosa serve per partire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Quattro decisioni concrete dell'amministrazione, una settimana di calendario, zero rischio.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695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990088"/>
            <a:ext cx="438912" cy="438912"/>
          </a:xfrm>
          <a:prstGeom prst="ellipse">
            <a:avLst/>
          </a:prstGeom>
          <a:solidFill>
            <a:srgbClr val="1C387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990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502152"/>
            <a:ext cx="2293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Sotto-dominio istituzionale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794760"/>
            <a:ext cx="2293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Es. cadenza.consmonopoli.it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4206240"/>
            <a:ext cx="2293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5 minuti  ·  IT del Conservatorio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17672" y="2788920"/>
            <a:ext cx="2695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18840" y="2990088"/>
            <a:ext cx="438912" cy="438912"/>
          </a:xfrm>
          <a:prstGeom prst="ellipse">
            <a:avLst/>
          </a:prstGeom>
          <a:solidFill>
            <a:srgbClr val="1C3873"/>
          </a:solidFill>
          <a:ln/>
        </p:spPr>
      </p:sp>
      <p:sp>
        <p:nvSpPr>
          <p:cNvPr id="14" name="Text 12"/>
          <p:cNvSpPr/>
          <p:nvPr/>
        </p:nvSpPr>
        <p:spPr>
          <a:xfrm>
            <a:off x="3518840" y="2990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18840" y="3502152"/>
            <a:ext cx="2293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Acquisto VPS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18840" y="3794760"/>
            <a:ext cx="2293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Hetzner CPX31 (€ 15,90/mese) o equivalente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18840" y="4206240"/>
            <a:ext cx="2293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30 minuti  ·  Direttore amministrativo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78144" y="2788920"/>
            <a:ext cx="2695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79312" y="2990088"/>
            <a:ext cx="438912" cy="438912"/>
          </a:xfrm>
          <a:prstGeom prst="ellipse">
            <a:avLst/>
          </a:prstGeom>
          <a:solidFill>
            <a:srgbClr val="1C3873"/>
          </a:solidFill>
          <a:ln/>
        </p:spPr>
      </p:sp>
      <p:sp>
        <p:nvSpPr>
          <p:cNvPr id="20" name="Text 18"/>
          <p:cNvSpPr/>
          <p:nvPr/>
        </p:nvSpPr>
        <p:spPr>
          <a:xfrm>
            <a:off x="6379312" y="2990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79312" y="3502152"/>
            <a:ext cx="2293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admin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9312" y="3794760"/>
            <a:ext cx="2293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DSGA o referente IT  ·  1 indirizzo email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79312" y="4206240"/>
            <a:ext cx="2293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5 minuti  ·  designazione interna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038615" y="2788920"/>
            <a:ext cx="2695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39783" y="2990088"/>
            <a:ext cx="438912" cy="438912"/>
          </a:xfrm>
          <a:prstGeom prst="ellipse">
            <a:avLst/>
          </a:prstGeom>
          <a:solidFill>
            <a:srgbClr val="1C3873"/>
          </a:solidFill>
          <a:ln/>
        </p:spPr>
      </p:sp>
      <p:sp>
        <p:nvSpPr>
          <p:cNvPr id="26" name="Text 24"/>
          <p:cNvSpPr/>
          <p:nvPr/>
        </p:nvSpPr>
        <p:spPr>
          <a:xfrm>
            <a:off x="9239783" y="2990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39783" y="3502152"/>
            <a:ext cx="2293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Anagrafica iniziale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39783" y="3794760"/>
            <a:ext cx="2293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Esportazione Isidata/CSV utenti + aule + edifici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39783" y="4206240"/>
            <a:ext cx="2293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 1-2 ore  ·  Segreteria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11277295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828032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quattro settimane di onboarding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5800" y="525780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1C387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257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Settimana 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" y="5532120"/>
            <a:ext cx="256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tecnico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5779008"/>
            <a:ext cx="256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Provisioning VPS, deploy software, certificato HTTPS, backup configurato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36544" y="525780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1C3873"/>
          </a:solidFill>
          <a:ln/>
        </p:spPr>
      </p:sp>
      <p:sp>
        <p:nvSpPr>
          <p:cNvPr id="37" name="Text 35"/>
          <p:cNvSpPr/>
          <p:nvPr/>
        </p:nvSpPr>
        <p:spPr>
          <a:xfrm>
            <a:off x="3436544" y="5257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Settimana 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36544" y="5532120"/>
            <a:ext cx="256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dati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36544" y="5779008"/>
            <a:ext cx="256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Anagrafica utenti, aule, edifici, dotazioni. Configurazione regole di prenotazione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87288" y="525780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1C3873"/>
          </a:solidFill>
          <a:ln/>
        </p:spPr>
      </p:sp>
      <p:sp>
        <p:nvSpPr>
          <p:cNvPr id="41" name="Text 39"/>
          <p:cNvSpPr/>
          <p:nvPr/>
        </p:nvSpPr>
        <p:spPr>
          <a:xfrm>
            <a:off x="6187288" y="5257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Settimana 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87288" y="5532120"/>
            <a:ext cx="256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Formazione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87288" y="5779008"/>
            <a:ext cx="256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Sessione admin (DSGA + Direzione, 90 min). Sessione docenti (1h). Manuale PDF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938031" y="525780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1C3873"/>
          </a:solidFill>
          <a:ln/>
        </p:spPr>
      </p:sp>
      <p:sp>
        <p:nvSpPr>
          <p:cNvPr id="45" name="Text 43"/>
          <p:cNvSpPr/>
          <p:nvPr/>
        </p:nvSpPr>
        <p:spPr>
          <a:xfrm>
            <a:off x="8938031" y="5257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Settimana 4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938031" y="5532120"/>
            <a:ext cx="256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 morbido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38031" y="5779008"/>
            <a:ext cx="2567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Apertura graduale. Sistema vecchio in parallelo per 30 giorni. Switch off al mese successivo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38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 APERTE ALLA DIREZIONE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tre decisioni che chiediamo oggi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7889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387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10317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DIRETTORE DEL CONSERVATORIO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2935224"/>
            <a:ext cx="10317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Possiamo partire con un pilota di 30 giorni?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209544"/>
            <a:ext cx="10317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 viene installata in parallelo all'attuale gestione. Se al termine del pilota non convince, si torna indietro a costo zero (il VPS si dismette in 5 minuti). Il rischio è quantificato: € 38 per 30 giorni di prova.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8862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387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10317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DIRETTORE AMMINISTRATIVO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4032504"/>
            <a:ext cx="10317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Procediamo con l'affidamento diretto del VPS?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306824"/>
            <a:ext cx="10317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L'importo annuo (€ 462) è ampiamente sotto soglia per affidamento diretto. Aruba Cloud (datacenter italiano AGID) o Hetzner Cloud (datacenter EU GDPR) sono entrambi compatibili con la fatturazione PA SDI. Niente gara, niente CIG dedicato.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D8DBE2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9834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387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937760"/>
            <a:ext cx="10317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3940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PROF. CARLO GALLO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5129784"/>
            <a:ext cx="10317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Vuoi essere il referente didattico del progetto?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404104"/>
            <a:ext cx="10317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Cadenza guadagna molto dall'avere un docente come ponte fra l'autore e il Conservatorio: orientamento sulle priorità, validazione delle soluzioni proposte ai colleghi, vetrina sul mondo dei conservatori italiani. Effort stimato: ~ 2 ore al mese.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6000"/>
            </a:avLst>
          </a:prstGeom>
          <a:solidFill>
            <a:srgbClr val="1C387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897880"/>
            <a:ext cx="363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E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MANUALE_ADMIN, ARCHITECTURE, SECURITY, BACKUP, DEPLOY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68698" y="5897880"/>
            <a:ext cx="363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E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 Git · 550 test verdi · 4 E2E Playwright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97317" y="5897880"/>
            <a:ext cx="363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E8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CONTATTO: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Danilo Russo  ·  docente del Conservatorio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Conservatorio Statale "Nino Rota" di Monopoli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Cadenza · Presentazione Conservatorio di Monopoli</dc:title>
  <dc:subject>PptxGenJS Presentation</dc:subject>
  <dc:creator>Danilo Russo</dc:creator>
  <cp:lastModifiedBy>Danilo Russo</cp:lastModifiedBy>
  <cp:revision>1</cp:revision>
  <dcterms:created xsi:type="dcterms:W3CDTF">2026-05-01T08:15:35Z</dcterms:created>
  <dcterms:modified xsi:type="dcterms:W3CDTF">2026-05-01T08:15:35Z</dcterms:modified>
</cp:coreProperties>
</file>